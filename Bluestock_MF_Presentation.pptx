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F386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D4A01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ETL Pipeline &amp; Interactive Dashboard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Rihen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Data Analyst Intern, Bluestock Fintech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Capstone Project — 7 Working Days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AUM, and SIP data live in different formats across AMFI's site — no unified database.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risk-adjusted comparison: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can't easily compare funds on Sharpe, Alpha, or drawdown.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tracking: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retail investors don't know if their fund beats its index.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reporting: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MF reports are static PDFs taking days to prepare.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Mutual Fund Analytics Platform that: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AMFI/mfapi.in data via an automated ETL pipeline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it in a normalised SQL star schema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Sharpe, Sortino, Alpha, Beta, VaR, Max Drawdown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funds against Nifty 50 / Nifty 100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investor behaviour across geography &amp; demographics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an executive-ready interactive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Fund Schemes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3319272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19272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Provided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35624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135624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87K+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35624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&amp; NAV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51976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8951976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Yrs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51976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(Jan 2022 - May 2026)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4612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India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5387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AUM, Folio, SIP — daily/monthly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453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NAV via REST API (JSON, no auth)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507492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3444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/ BSE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5367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index prices — daily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3246120"/>
            <a:ext cx="4709160" cy="2651760"/>
          </a:xfrm>
          <a:prstGeom prst="roundRect">
            <a:avLst>
              <a:gd name="adj" fmla="val 2759"/>
            </a:avLst>
          </a:prstGeom>
          <a:solidFill>
            <a:srgbClr val="1F3864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3474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AUTHENTICITY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3840480"/>
            <a:ext cx="4206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values are anchored to real AMFI/mfapi.in figures. Investor transaction data is synthetically generated using realistic Indian MF market demographic and geographic distributions. No proprietary or confidential data was used.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5-Layer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76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CSVs +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87168" y="2834640"/>
            <a:ext cx="283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88920" y="21031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2176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8892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3017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cleaning,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dedup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2834640"/>
            <a:ext cx="283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74920" y="21031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176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492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017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(11 tables)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59168" y="2834640"/>
            <a:ext cx="283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60920" y="21031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2176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6092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52360" y="3017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Jupyter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45168" y="2834640"/>
            <a:ext cx="283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46920" y="21031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9738360" y="2176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4692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38360" y="3017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BI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real-world fintech data pipelines used at companies like Zerodha, Groww, and Paytm Money.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89204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07492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 schema with 2 dimension tables (dim_fund, dim_date) and 9 fact tables, indexed on amfi_code and date. Every table's row count was verified against its source CSV after load — all 11 matched exactly, zero data loss.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 Trends: A Rally, Then a Slowdown</a:t>
            </a:r>
            <a:endParaRPr lang="en-US" sz="3000" dirty="0"/>
          </a:p>
        </p:txBody>
      </p:sp>
      <p:pic>
        <p:nvPicPr>
          <p:cNvPr id="4" name="Image 0" descr="/home/claude/bluestock_mf_capstone/notebooks/charts/chart01_nav_trend_all_sche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6949440" cy="38221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5544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2E7D32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691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+15.7%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818120" y="2377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bull run — average NAV gain across all 40 schemes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0" y="347472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36118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+4.1%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818120" y="42976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a slowdown, not a decline —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continued at a slower pace; the series never drops more than ~1% from its running peak across the full window.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 Growth &amp; the SIP All-Time High</a:t>
            </a:r>
            <a:endParaRPr lang="en-US" sz="3000" dirty="0"/>
          </a:p>
        </p:txBody>
      </p:sp>
      <p:pic>
        <p:nvPicPr>
          <p:cNvPr id="4" name="Image 0" descr="/home/claude/bluestock_mf_capstone/notebooks/charts/chart03_aum_growth_by_fund_h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486400" cy="4114800"/>
          </a:xfrm>
          <a:prstGeom prst="rect">
            <a:avLst/>
          </a:prstGeom>
        </p:spPr>
      </p:pic>
      <p:pic>
        <p:nvPicPr>
          <p:cNvPr id="5" name="Image 1" descr="/home/claude/bluestock_mf_capstone/notebooks/charts/chart07_category_inflow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54480"/>
            <a:ext cx="5486400" cy="4114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58064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Rs. 12.50 lakh crore AUM (FY25) — the largest of the 10 fund houses tracked, consistent with its real-world #1 position.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 category inflow volume, while SIP inflows hit an all-time high of Rs. 31,002 crore in December 2025.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Scorecard: Top 5 of 40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(0-100): 30% × 3yr return + 25% × Sharpe + 20% × Alpha + 15% × expense ratio (inverse) + 10% × max drawdown (inverse)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0332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017520"/>
                <a:gridCol w="2377440"/>
                <a:gridCol w="1554480"/>
                <a:gridCol w="118872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House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3yr Return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/100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 Mid Cap 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Top 100 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Small Cap 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ABSL Small Cap 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Aditya Birla SL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Bluechip 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120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top-ranked funds by composite score don't necessarily have the highest raw 3-year return — the formula deliberately weights risk-adjusted characteristics (Sharpe, Alpha, drawdown) alongside return. This is the formula working as specified.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&amp; Beta: A Finding Worth Flagging</a:t>
            </a:r>
            <a:endParaRPr lang="en-US" sz="3000" dirty="0"/>
          </a:p>
        </p:txBody>
      </p:sp>
      <p:pic>
        <p:nvPicPr>
          <p:cNvPr id="4" name="Image 0" descr="/home/claude/bluestock_mf_capstone/reports/performance_analytics/benchmark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667512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508760"/>
            <a:ext cx="4297680" cy="1965960"/>
          </a:xfrm>
          <a:prstGeom prst="roundRect">
            <a:avLst>
              <a:gd name="adj" fmla="val 3721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16459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0.0006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589520" y="233172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B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R² across all 40 Alpha/Beta regressions vs. Nifty 100 — essentially zero market explanatory power.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06640" y="3611880"/>
            <a:ext cx="429768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37947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Equity Large Cap funds typically show R² of 0.7-0.9+ against Nifty 100. The Alpha/Beta values here are mathematically correct — formula followed exactly — but carry very little statistical signal given this R². Flagged explicitly rather than presented as reliable market sensitivity.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Overview</a:t>
            </a:r>
            <a:endParaRPr lang="en-US" sz="3000" dirty="0"/>
          </a:p>
        </p:txBody>
      </p:sp>
      <p:pic>
        <p:nvPicPr>
          <p:cNvPr id="4" name="Image 0" descr="/home/claude/bluestock_mf_capstone/dashboard/pages/Dashboard_Page1_Industry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115568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Performance</a:t>
            </a:r>
            <a:endParaRPr lang="en-US" sz="3000" dirty="0"/>
          </a:p>
        </p:txBody>
      </p:sp>
      <p:pic>
        <p:nvPicPr>
          <p:cNvPr id="4" name="Image 0" descr="/home/claude/bluestock_mf_capstone/dashboard/pages/Dashboard_Page2_Fund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115568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dominates AUM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5087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12.50 lakh crore (FY25) — the largest of the 10 fund houses tracked, matching its real-world position.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4231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hit an all-time high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24231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31,002 crore in December 2025, capping a multi-year uptrend.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3375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scorecard fund scores 88.2/100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33375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strong Sharpe &amp; Alpha, not raw 3-year return — the weighting works as designed.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2976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42519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correlation is near-zero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4251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Alpha/Beta R² of 0.0006 vs. Nifty 100 — a dataset limitation flagged throughout, not a real market pattern.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2120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51663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of investors flagged "at-risk"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51663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 sparse SIP cadence (~65-day gaps) in the simulated data, not a genuine behavioural signal.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F386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D4A01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68680" y="3429000"/>
            <a:ext cx="20116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Rihen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7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Data Analyst Intern, Bluestock Fintech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7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project: GitHub repo (bluestock_mf_capstone) — see README.md for setup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7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Final_Report.pdf and Bluestock_MF_Presentation.pptx included in the repo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2026-08-18T08:58:07Z</dcterms:created>
  <dcterms:modified xsi:type="dcterms:W3CDTF">2026-08-18T08:58:07Z</dcterms:modified>
</cp:coreProperties>
</file>